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57" r:id="rId4"/>
    <p:sldId id="258" r:id="rId5"/>
    <p:sldId id="259" r:id="rId6"/>
    <p:sldId id="267" r:id="rId7"/>
    <p:sldId id="261" r:id="rId8"/>
    <p:sldId id="269" r:id="rId9"/>
    <p:sldId id="270" r:id="rId10"/>
    <p:sldId id="271" r:id="rId11"/>
    <p:sldId id="272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92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1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42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39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07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480" y="960239"/>
            <a:ext cx="734689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Vehicle Theft Analysis &amp;</a:t>
            </a:r>
            <a:endParaRPr lang="en-US" sz="4200" dirty="0"/>
          </a:p>
          <a:p>
            <a:pPr marL="0" indent="0" algn="ctr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Strategic Recommendations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660325" y="2506861"/>
            <a:ext cx="38232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for New Zealand Police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59038" y="3421261"/>
            <a:ext cx="2678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Police Advisory Report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01912" y="3878461"/>
            <a:ext cx="4834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2025 | Cenfri Data Science Fellowship Assessment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3245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952500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417290"/>
            <a:ext cx="8191500" cy="25908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algn="l">
              <a:lnSpc>
                <a:spcPts val="2100"/>
              </a:lnSpc>
              <a:spcAft>
                <a:spcPts val="1050"/>
              </a:spcAft>
              <a:buSzPct val="100000"/>
            </a:pP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A4151-8387-4447-E0D3-AF6C722D0C8F}"/>
              </a:ext>
            </a:extLst>
          </p:cNvPr>
          <p:cNvSpPr txBox="1"/>
          <p:nvPr/>
        </p:nvSpPr>
        <p:spPr>
          <a:xfrm>
            <a:off x="870857" y="1291771"/>
            <a:ext cx="21916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i="0" dirty="0">
                <a:solidFill>
                  <a:srgbClr val="DC2626"/>
                </a:solidFill>
                <a:effectLst/>
                <a:latin typeface="ui-sans-serif"/>
              </a:rPr>
              <a:t>20.9%</a:t>
            </a:r>
          </a:p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Station wagons account for 1 in 5 thefts</a:t>
            </a:r>
          </a:p>
          <a:p>
            <a:pPr algn="l"/>
            <a:r>
              <a:rPr lang="en-GB" sz="1600" b="0" i="0" dirty="0">
                <a:effectLst/>
                <a:latin typeface="ui-sans-serif"/>
              </a:rPr>
              <a:t>Most targeted vehicle type (945 incidents)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30950-DB5D-8FE4-5E70-54183E582B88}"/>
              </a:ext>
            </a:extLst>
          </p:cNvPr>
          <p:cNvSpPr txBox="1"/>
          <p:nvPr/>
        </p:nvSpPr>
        <p:spPr>
          <a:xfrm>
            <a:off x="4653915" y="1250915"/>
            <a:ext cx="283754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i="0" dirty="0">
                <a:solidFill>
                  <a:srgbClr val="DC2626"/>
                </a:solidFill>
                <a:effectLst/>
                <a:latin typeface="ui-sans-serif"/>
              </a:rPr>
              <a:t>28.1%</a:t>
            </a:r>
          </a:p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Silver vehicles are most stolen</a:t>
            </a: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Followed by white (20.4%) and black (13.2%)</a:t>
            </a:r>
          </a:p>
          <a:p>
            <a:endParaRPr lang="en-RW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78CE6-B8BA-FEA7-C024-C58E06438430}"/>
              </a:ext>
            </a:extLst>
          </p:cNvPr>
          <p:cNvSpPr txBox="1"/>
          <p:nvPr/>
        </p:nvSpPr>
        <p:spPr>
          <a:xfrm>
            <a:off x="777796" y="3312690"/>
            <a:ext cx="30988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i="0" dirty="0">
                <a:solidFill>
                  <a:srgbClr val="DC2626"/>
                </a:solidFill>
                <a:effectLst/>
                <a:latin typeface="ui-sans-serif"/>
              </a:rPr>
              <a:t>16.8 years</a:t>
            </a:r>
          </a:p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Average age of stolen vehicles</a:t>
            </a: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Older vehicles lack modern security features</a:t>
            </a:r>
          </a:p>
          <a:p>
            <a:endParaRPr lang="en-R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61001C-17E7-985F-3B08-CCE150BE36B5}"/>
              </a:ext>
            </a:extLst>
          </p:cNvPr>
          <p:cNvSpPr txBox="1"/>
          <p:nvPr/>
        </p:nvSpPr>
        <p:spPr>
          <a:xfrm>
            <a:off x="4775200" y="2984542"/>
            <a:ext cx="32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i="0" dirty="0">
                <a:solidFill>
                  <a:srgbClr val="DC2626"/>
                </a:solidFill>
                <a:effectLst/>
                <a:latin typeface="ui-sans-serif"/>
              </a:rPr>
              <a:t>8.5%</a:t>
            </a:r>
          </a:p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Vehicles ≤3 years old</a:t>
            </a: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New cars are rarely targeted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76999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3245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952500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417290"/>
            <a:ext cx="8191500" cy="25908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1050"/>
              </a:spcAft>
              <a:buSzPct val="100000"/>
              <a:buChar char="•"/>
            </a:pP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76F89-4C43-90F4-3B95-2AEFB5EFF5BE}"/>
              </a:ext>
            </a:extLst>
          </p:cNvPr>
          <p:cNvSpPr txBox="1"/>
          <p:nvPr/>
        </p:nvSpPr>
        <p:spPr>
          <a:xfrm>
            <a:off x="529772" y="1574800"/>
            <a:ext cx="262708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Gisborne               </a:t>
            </a:r>
            <a:r>
              <a:rPr lang="en-GB" sz="1600" b="1" i="0" dirty="0">
                <a:solidFill>
                  <a:srgbClr val="B91C1C"/>
                </a:solidFill>
                <a:effectLst/>
                <a:latin typeface="ui-sans-serif"/>
              </a:rPr>
              <a:t>CRITICAL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endParaRPr lang="en-GB" sz="1600" b="0" i="0" dirty="0">
              <a:solidFill>
                <a:srgbClr val="4B5563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Theft Rate:      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335.9/100k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Total Incidents: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155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en-RW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BB3E8-DE02-F319-8C58-57AF92526084}"/>
              </a:ext>
            </a:extLst>
          </p:cNvPr>
          <p:cNvSpPr txBox="1"/>
          <p:nvPr/>
        </p:nvSpPr>
        <p:spPr>
          <a:xfrm>
            <a:off x="3687671" y="1588443"/>
            <a:ext cx="262708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Nelson                    </a:t>
            </a:r>
            <a:r>
              <a:rPr lang="en-GB" sz="1600" b="1" i="0" dirty="0">
                <a:solidFill>
                  <a:srgbClr val="C2410C"/>
                </a:solidFill>
                <a:effectLst/>
                <a:latin typeface="ui-sans-serif"/>
              </a:rPr>
              <a:t>HIGH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endParaRPr lang="en-GB" sz="1600" b="0" i="0" dirty="0">
              <a:solidFill>
                <a:srgbClr val="4B5563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Theft Rate:      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207.1/100k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Total Incidents: 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96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en-RW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6DA95-DE37-EAAC-21B3-42B40A65327E}"/>
              </a:ext>
            </a:extLst>
          </p:cNvPr>
          <p:cNvSpPr txBox="1"/>
          <p:nvPr/>
        </p:nvSpPr>
        <p:spPr>
          <a:xfrm>
            <a:off x="503011" y="3113812"/>
            <a:ext cx="268060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Bay of Plenty          </a:t>
            </a:r>
            <a:r>
              <a:rPr lang="en-GB" sz="1600" b="1" i="0" dirty="0">
                <a:solidFill>
                  <a:srgbClr val="C2410C"/>
                </a:solidFill>
                <a:effectLst/>
                <a:latin typeface="ui-sans-serif"/>
              </a:rPr>
              <a:t>HIGH</a:t>
            </a:r>
          </a:p>
          <a:p>
            <a:pPr algn="l"/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Theft Rate:       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174.6/100k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Total Incidents: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546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en-R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9CF5C-127F-5FE8-2AF2-7A8336628D9B}"/>
              </a:ext>
            </a:extLst>
          </p:cNvPr>
          <p:cNvSpPr txBox="1"/>
          <p:nvPr/>
        </p:nvSpPr>
        <p:spPr>
          <a:xfrm>
            <a:off x="3746772" y="3113812"/>
            <a:ext cx="250888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i="0" dirty="0">
                <a:solidFill>
                  <a:srgbClr val="1F2937"/>
                </a:solidFill>
                <a:effectLst/>
                <a:latin typeface="ui-sans-serif"/>
              </a:rPr>
              <a:t>Auckland            </a:t>
            </a:r>
            <a:r>
              <a:rPr lang="en-GB" sz="1600" b="1" i="0" dirty="0">
                <a:solidFill>
                  <a:srgbClr val="A16207"/>
                </a:solidFill>
                <a:effectLst/>
                <a:latin typeface="ui-sans-serif"/>
              </a:rPr>
              <a:t>MEDIUM</a:t>
            </a:r>
          </a:p>
          <a:p>
            <a:pPr algn="l"/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Theft Rate:      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95.5/100k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sz="1600" b="0" i="0" dirty="0">
                <a:solidFill>
                  <a:srgbClr val="4B5563"/>
                </a:solidFill>
                <a:effectLst/>
                <a:latin typeface="ui-sans-serif"/>
              </a:rPr>
              <a:t>Total Incidents:    </a:t>
            </a:r>
            <a:r>
              <a:rPr lang="en-GB" sz="1600" b="1" i="0" dirty="0">
                <a:solidFill>
                  <a:srgbClr val="030712"/>
                </a:solidFill>
                <a:effectLst/>
                <a:latin typeface="ui-sans-serif"/>
              </a:rPr>
              <a:t>1,619</a:t>
            </a:r>
            <a:endParaRPr lang="en-GB" sz="1600" b="0" i="0" dirty="0">
              <a:solidFill>
                <a:srgbClr val="030712"/>
              </a:solidFill>
              <a:effectLst/>
              <a:latin typeface="ui-sans-serif"/>
            </a:endParaRPr>
          </a:p>
          <a:p>
            <a:endParaRPr lang="en-RW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0818E5-D825-D57F-C044-4FC57BB9E5BE}"/>
              </a:ext>
            </a:extLst>
          </p:cNvPr>
          <p:cNvSpPr txBox="1"/>
          <p:nvPr/>
        </p:nvSpPr>
        <p:spPr>
          <a:xfrm>
            <a:off x="6314757" y="1676400"/>
            <a:ext cx="2680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i="0" dirty="0">
                <a:solidFill>
                  <a:srgbClr val="FFFFFF"/>
                </a:solidFill>
                <a:effectLst/>
                <a:latin typeface="ui-sans-serif"/>
              </a:rPr>
              <a:t>Key Correlation:</a:t>
            </a:r>
            <a:endParaRPr lang="en-GB" b="0" i="0" dirty="0">
              <a:solidFill>
                <a:srgbClr val="FFFFFF"/>
              </a:solidFill>
              <a:effectLst/>
              <a:latin typeface="ui-sans-serif"/>
            </a:endParaRPr>
          </a:p>
          <a:p>
            <a:pPr algn="l"/>
            <a:r>
              <a:rPr lang="en-GB" b="0" i="0" dirty="0">
                <a:effectLst/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Population density strongly correlates with theft rates (r=0.96). High-density urban areas require 30% more patrol resources.</a:t>
            </a:r>
          </a:p>
          <a:p>
            <a:endParaRPr lang="en-R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3809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Methodology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595327"/>
            <a:ext cx="40319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876300"/>
            <a:ext cx="3952875" cy="15621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4,527 theft records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vehicle details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vehicle makes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 luxury brands)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NZ regions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population data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data: Date, day, month 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819400"/>
            <a:ext cx="40319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Techniques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6250" y="3436590"/>
            <a:ext cx="3952875" cy="116205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Pandas, NumPy, Scikit-learn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Visualizations: Matplotlib, Seaborn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Random Forest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14875" y="771674"/>
            <a:ext cx="40319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14875" y="1388864"/>
            <a:ext cx="3952875" cy="15621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Cleaned 104 missing values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Standardized date formats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Merged 3 datasets successfully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Engineered 10+ new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4875" y="3293864"/>
            <a:ext cx="3952875" cy="792361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33925" y="3293864"/>
            <a:ext cx="0" cy="79236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2" name="Text 10"/>
          <p:cNvSpPr/>
          <p:nvPr/>
        </p:nvSpPr>
        <p:spPr>
          <a:xfrm>
            <a:off x="4905375" y="3446264"/>
            <a:ext cx="368217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Integrity:</a:t>
            </a:r>
            <a:r>
              <a:rPr lang="en-US" sz="12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analysis based on validated, cleaned data with comprehensive coverage.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6159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Vehicle Type Analysis</a:t>
            </a:r>
            <a:endParaRPr lang="en-US" sz="2700" dirty="0"/>
          </a:p>
        </p:txBody>
      </p:sp>
      <p:pic>
        <p:nvPicPr>
          <p:cNvPr id="6" name="Picture 5" descr="A graph of a number of vehicles&#10;&#10;Description automatically generated">
            <a:extLst>
              <a:ext uri="{FF2B5EF4-FFF2-40B4-BE49-F238E27FC236}">
                <a16:creationId xmlns:a16="http://schemas.microsoft.com/office/drawing/2014/main" id="{87C8E876-842B-BC5E-7BE2-7076611E7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3" y="1473200"/>
            <a:ext cx="4606288" cy="3329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A3C7FD-87E7-ADD0-1E72-675F001B5CFF}"/>
              </a:ext>
            </a:extLst>
          </p:cNvPr>
          <p:cNvSpPr txBox="1"/>
          <p:nvPr/>
        </p:nvSpPr>
        <p:spPr>
          <a:xfrm>
            <a:off x="696686" y="7074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800" b="0" i="0" u="none" strike="noStrike" dirty="0">
                <a:solidFill>
                  <a:srgbClr val="1E3A8A"/>
                </a:solidFill>
                <a:latin typeface="Arial"/>
              </a:rPr>
              <a:t>Top 15 Most Stolen Vehicle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D9A3E-112F-B67C-30FA-7CB5077B1E93}"/>
              </a:ext>
            </a:extLst>
          </p:cNvPr>
          <p:cNvSpPr txBox="1"/>
          <p:nvPr/>
        </p:nvSpPr>
        <p:spPr>
          <a:xfrm>
            <a:off x="4780461" y="1611086"/>
            <a:ext cx="41893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 err="1"/>
              <a:t>Stationwagons</a:t>
            </a:r>
            <a:r>
              <a:rPr lang="en-GB" sz="1200" dirty="0"/>
              <a:t> are the </a:t>
            </a:r>
            <a:r>
              <a:rPr lang="en-GB" sz="1200" b="1" dirty="0"/>
              <a:t>most stolen vehicle type</a:t>
            </a:r>
            <a:r>
              <a:rPr lang="en-GB" sz="1200" dirty="0"/>
              <a:t> (945 thefts)  likely due to their high availability and utility for family and cargo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Saloons</a:t>
            </a:r>
            <a:r>
              <a:rPr lang="en-GB" sz="1200" dirty="0"/>
              <a:t> (851 thefts) and </a:t>
            </a:r>
            <a:r>
              <a:rPr lang="en-GB" sz="1200" b="1" dirty="0"/>
              <a:t>Hatchbacks</a:t>
            </a:r>
            <a:r>
              <a:rPr lang="en-GB" sz="1200" dirty="0"/>
              <a:t> (644 thefts) follow, showing that </a:t>
            </a:r>
            <a:r>
              <a:rPr lang="en-GB" sz="1200" b="1" dirty="0"/>
              <a:t>mainstream passenger vehicles</a:t>
            </a:r>
            <a:r>
              <a:rPr lang="en-GB" sz="1200" dirty="0"/>
              <a:t> dominate theft incidents.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Motorcycles</a:t>
            </a:r>
            <a:r>
              <a:rPr lang="en-GB" sz="1200" dirty="0"/>
              <a:t> — including </a:t>
            </a:r>
            <a:r>
              <a:rPr lang="en-GB" sz="1200" b="1" dirty="0" err="1"/>
              <a:t>Roadbikes</a:t>
            </a:r>
            <a:r>
              <a:rPr lang="en-GB" sz="1200" b="1" dirty="0"/>
              <a:t> (297)</a:t>
            </a:r>
            <a:r>
              <a:rPr lang="en-GB" sz="1200" dirty="0"/>
              <a:t> and </a:t>
            </a:r>
            <a:r>
              <a:rPr lang="en-GB" sz="1200" b="1" dirty="0"/>
              <a:t>Mopeds (187)</a:t>
            </a:r>
            <a:r>
              <a:rPr lang="en-GB" sz="1200" dirty="0"/>
              <a:t> — show moderate vulnerability, reflecting </a:t>
            </a:r>
            <a:r>
              <a:rPr lang="en-GB" sz="1200" b="1" dirty="0"/>
              <a:t>their easy mobility and limited locking mechanisms</a:t>
            </a:r>
            <a:r>
              <a:rPr lang="en-GB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Light Vans</a:t>
            </a:r>
            <a:r>
              <a:rPr lang="en-GB" sz="1200" dirty="0"/>
              <a:t> (154) and </a:t>
            </a:r>
            <a:r>
              <a:rPr lang="en-GB" sz="1200" b="1" dirty="0"/>
              <a:t>Boat Trailers</a:t>
            </a:r>
            <a:r>
              <a:rPr lang="en-GB" sz="1200" dirty="0"/>
              <a:t> (105) indicate that </a:t>
            </a:r>
            <a:r>
              <a:rPr lang="en-GB" sz="1200" b="1" dirty="0"/>
              <a:t>work-related and recreational vehicles</a:t>
            </a:r>
            <a:r>
              <a:rPr lang="en-GB" sz="1200" dirty="0"/>
              <a:t> are not immune to theft.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Low-frequency theft types</a:t>
            </a:r>
            <a:r>
              <a:rPr lang="en-GB" sz="1200" dirty="0"/>
              <a:t> include </a:t>
            </a:r>
            <a:r>
              <a:rPr lang="en-GB" sz="1200" b="1" dirty="0"/>
              <a:t>Sports Cars, Caravans, and Mobile Homes</a:t>
            </a:r>
            <a:r>
              <a:rPr lang="en-GB" sz="1200" dirty="0"/>
              <a:t>, likely due to </a:t>
            </a:r>
            <a:r>
              <a:rPr lang="en-GB" sz="1200" b="1" dirty="0"/>
              <a:t>rarity or high traceability</a:t>
            </a:r>
            <a:r>
              <a:rPr lang="en-GB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W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4788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Regional Threat Assessment</a:t>
            </a:r>
            <a:endParaRPr lang="en-US" sz="2700" dirty="0"/>
          </a:p>
        </p:txBody>
      </p:sp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903DAE35-7DCC-B282-E488-D5FB8EA48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1484088"/>
            <a:ext cx="5406571" cy="27091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2C2E6-4E19-18C8-DDF0-A53A256BF07E}"/>
              </a:ext>
            </a:extLst>
          </p:cNvPr>
          <p:cNvSpPr txBox="1"/>
          <p:nvPr/>
        </p:nvSpPr>
        <p:spPr>
          <a:xfrm>
            <a:off x="2051383" y="945801"/>
            <a:ext cx="60819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600" b="0" i="0" u="none" strike="noStrike" dirty="0">
                <a:solidFill>
                  <a:srgbClr val="1E3A8A"/>
                </a:solidFill>
                <a:latin typeface="Arial"/>
              </a:rPr>
              <a:t>Regional Analysis: Total Thefts vs Rate per 100k Population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03EC3-B0D1-57E1-68ED-5C4F08E3FA6E}"/>
              </a:ext>
            </a:extLst>
          </p:cNvPr>
          <p:cNvSpPr txBox="1"/>
          <p:nvPr/>
        </p:nvSpPr>
        <p:spPr>
          <a:xfrm>
            <a:off x="5943600" y="1531658"/>
            <a:ext cx="2786743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Auckland</a:t>
            </a:r>
            <a:r>
              <a:rPr lang="en-GB" sz="1100" dirty="0"/>
              <a:t> records the </a:t>
            </a:r>
            <a:r>
              <a:rPr lang="en-GB" sz="1100" b="1" dirty="0"/>
              <a:t>highest total thefts (≈1,600)</a:t>
            </a:r>
            <a:r>
              <a:rPr lang="en-GB" sz="1100" dirty="0"/>
              <a:t> — consistent with its large urban population and vehicle density.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Canterbury</a:t>
            </a:r>
            <a:r>
              <a:rPr lang="en-GB" sz="1100" dirty="0"/>
              <a:t> and </a:t>
            </a:r>
            <a:r>
              <a:rPr lang="en-GB" sz="1100" b="1" dirty="0"/>
              <a:t>Bay of Plenty</a:t>
            </a:r>
            <a:r>
              <a:rPr lang="en-GB" sz="1100" dirty="0"/>
              <a:t> follow with moderate theft volumes.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Wellington, Waikato, and Northland</a:t>
            </a:r>
            <a:r>
              <a:rPr lang="en-GB" sz="1100" dirty="0"/>
              <a:t> also show notable activity, indicating regional clusters of theft concentration.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Gisborne</a:t>
            </a:r>
            <a:r>
              <a:rPr lang="en-GB" sz="1100" dirty="0"/>
              <a:t> stands out with the </a:t>
            </a:r>
            <a:r>
              <a:rPr lang="en-GB" sz="1100" b="1" dirty="0"/>
              <a:t>highest theft rate (≈336 per 100k)</a:t>
            </a:r>
            <a:r>
              <a:rPr lang="en-GB" sz="1100" dirty="0"/>
              <a:t> — indicating a severe </a:t>
            </a:r>
            <a:r>
              <a:rPr lang="en-GB" sz="1100" b="1" dirty="0"/>
              <a:t>per-capita risk</a:t>
            </a:r>
            <a:r>
              <a:rPr lang="en-GB" sz="1100" dirty="0"/>
              <a:t> despite its small population.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Highlights the contrast between </a:t>
            </a:r>
            <a:r>
              <a:rPr lang="en-GB" sz="1100" b="1" dirty="0"/>
              <a:t>urban volume-driven thefts</a:t>
            </a:r>
            <a:r>
              <a:rPr lang="en-GB" sz="1100" dirty="0"/>
              <a:t> and </a:t>
            </a:r>
            <a:r>
              <a:rPr lang="en-GB" sz="1100" b="1" dirty="0"/>
              <a:t>regional hotspots of concentrated risk</a:t>
            </a:r>
            <a:r>
              <a:rPr lang="en-GB" sz="1100" dirty="0"/>
              <a:t>.</a:t>
            </a:r>
            <a:endParaRPr lang="en-RW" sz="1100" dirty="0"/>
          </a:p>
        </p:txBody>
      </p:sp>
    </p:spTree>
    <p:extLst>
      <p:ext uri="{BB962C8B-B14F-4D97-AF65-F5344CB8AC3E}">
        <p14:creationId xmlns:p14="http://schemas.microsoft.com/office/powerpoint/2010/main" val="26530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045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Temporal Patterns</a:t>
            </a:r>
            <a:endParaRPr lang="en-US" sz="2700" dirty="0"/>
          </a:p>
        </p:txBody>
      </p:sp>
      <p:pic>
        <p:nvPicPr>
          <p:cNvPr id="6" name="Picture 5" descr="A group of graphs and charts&#10;&#10;Description automatically generated with medium confidence">
            <a:extLst>
              <a:ext uri="{FF2B5EF4-FFF2-40B4-BE49-F238E27FC236}">
                <a16:creationId xmlns:a16="http://schemas.microsoft.com/office/drawing/2014/main" id="{04216404-DFDB-C4B4-426A-B0EC74EC5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63" y="1323474"/>
            <a:ext cx="5889458" cy="3216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39D7B1-B7A9-7BCC-E452-4DA0FB620F1C}"/>
              </a:ext>
            </a:extLst>
          </p:cNvPr>
          <p:cNvSpPr txBox="1"/>
          <p:nvPr/>
        </p:nvSpPr>
        <p:spPr>
          <a:xfrm>
            <a:off x="565484" y="762821"/>
            <a:ext cx="60639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600" b="0" i="0" u="none" strike="noStrike" dirty="0">
                <a:solidFill>
                  <a:srgbClr val="1E3A8A"/>
                </a:solidFill>
                <a:latin typeface="Arial"/>
              </a:rPr>
              <a:t>Theft Distribution by Day of Week, Month Weekday Vs weekend and Quarter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6565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Makes Colors Analysis</a:t>
            </a:r>
            <a:endParaRPr lang="en-US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D7B1-B7A9-7BCC-E452-4DA0FB620F1C}"/>
              </a:ext>
            </a:extLst>
          </p:cNvPr>
          <p:cNvSpPr txBox="1"/>
          <p:nvPr/>
        </p:nvSpPr>
        <p:spPr>
          <a:xfrm>
            <a:off x="476250" y="762821"/>
            <a:ext cx="5250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400" dirty="0"/>
              <a:t>Top 10 Vehicle Makes and Colours Targeted by Thieves</a:t>
            </a:r>
            <a:endParaRPr lang="en-GB" sz="1600" b="0" i="0" u="none" strike="noStrike" dirty="0">
              <a:solidFill>
                <a:srgbClr val="1E3A8A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27124-DC9D-DF5F-40DF-FEF864D9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" y="1510586"/>
            <a:ext cx="5684921" cy="29248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36F4CF-62A2-27F0-216C-A0CDA0C13A4F}"/>
              </a:ext>
            </a:extLst>
          </p:cNvPr>
          <p:cNvSpPr txBox="1"/>
          <p:nvPr/>
        </p:nvSpPr>
        <p:spPr>
          <a:xfrm>
            <a:off x="5943600" y="1995841"/>
            <a:ext cx="309211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Theft correlates with </a:t>
            </a:r>
            <a:r>
              <a:rPr lang="en-GB" sz="1100" b="1" dirty="0"/>
              <a:t>vehicle availability and resale value</a:t>
            </a:r>
            <a:r>
              <a:rPr lang="en-GB" sz="1100" dirty="0"/>
              <a:t>, not brand prestige.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Commercial vehicles</a:t>
            </a:r>
            <a:r>
              <a:rPr lang="en-GB" sz="1100" dirty="0"/>
              <a:t> (trailers, vans) require stronger tracking and security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Neutral-</a:t>
            </a:r>
            <a:r>
              <a:rPr lang="en-GB" sz="1100" b="1" dirty="0" err="1"/>
              <a:t>colored</a:t>
            </a:r>
            <a:r>
              <a:rPr lang="en-GB" sz="1100" b="1" dirty="0"/>
              <a:t> cars</a:t>
            </a:r>
            <a:r>
              <a:rPr lang="en-GB" sz="1100" dirty="0"/>
              <a:t> pose higher risk — ideal focus for awareness and preventive measures.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Insights support </a:t>
            </a:r>
            <a:r>
              <a:rPr lang="en-GB" sz="1100" b="1" dirty="0"/>
              <a:t>targeted anti-theft strategies</a:t>
            </a:r>
            <a:r>
              <a:rPr lang="en-GB" sz="1100" dirty="0"/>
              <a:t> and </a:t>
            </a:r>
            <a:r>
              <a:rPr lang="en-GB" sz="1100" b="1" dirty="0"/>
              <a:t>insurance risk profiling</a:t>
            </a:r>
            <a:endParaRPr lang="en-RW" sz="1100" dirty="0"/>
          </a:p>
        </p:txBody>
      </p:sp>
    </p:spTree>
    <p:extLst>
      <p:ext uri="{BB962C8B-B14F-4D97-AF65-F5344CB8AC3E}">
        <p14:creationId xmlns:p14="http://schemas.microsoft.com/office/powerpoint/2010/main" val="932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6565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Vehicle Age Analysis</a:t>
            </a:r>
            <a:endParaRPr lang="en-US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D7B1-B7A9-7BCC-E452-4DA0FB620F1C}"/>
              </a:ext>
            </a:extLst>
          </p:cNvPr>
          <p:cNvSpPr txBox="1"/>
          <p:nvPr/>
        </p:nvSpPr>
        <p:spPr>
          <a:xfrm>
            <a:off x="476250" y="762821"/>
            <a:ext cx="4001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400" dirty="0"/>
              <a:t>Theft Distribution by Vehicle Age and Age Group</a:t>
            </a:r>
            <a:endParaRPr lang="en-GB" sz="1600" b="0" i="0" u="none" strike="noStrike" dirty="0">
              <a:solidFill>
                <a:srgbClr val="1E3A8A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6F4CF-62A2-27F0-216C-A0CDA0C13A4F}"/>
              </a:ext>
            </a:extLst>
          </p:cNvPr>
          <p:cNvSpPr txBox="1"/>
          <p:nvPr/>
        </p:nvSpPr>
        <p:spPr>
          <a:xfrm>
            <a:off x="5943600" y="1995841"/>
            <a:ext cx="309211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Theft risk </a:t>
            </a:r>
            <a:r>
              <a:rPr lang="en-GB" sz="1100" b="1" dirty="0"/>
              <a:t>peaks for mid-aged to older vehicles (16–20+ years)</a:t>
            </a:r>
            <a:r>
              <a:rPr lang="en-GB" sz="1100" dirty="0"/>
              <a:t>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Reinforces need for </a:t>
            </a:r>
            <a:r>
              <a:rPr lang="en-GB" sz="1100" b="1" dirty="0"/>
              <a:t>awareness and retrofitted security solutions</a:t>
            </a:r>
            <a:r>
              <a:rPr lang="en-GB" sz="1100" dirty="0"/>
              <a:t> for older vehicles.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Law enforcement and insurers can </a:t>
            </a:r>
            <a:r>
              <a:rPr lang="en-GB" sz="1100" b="1" dirty="0"/>
              <a:t>prioritize patrols and coverage policies</a:t>
            </a:r>
            <a:r>
              <a:rPr lang="en-GB" sz="1100" dirty="0"/>
              <a:t> for these high-risk age groups.</a:t>
            </a:r>
            <a:endParaRPr lang="en-RW" sz="1100" dirty="0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003A38AC-D58D-1CA5-C24D-C47237D1B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29" y="1534139"/>
            <a:ext cx="5145314" cy="208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49" y="95250"/>
            <a:ext cx="75356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2800" dirty="0">
                <a:solidFill>
                  <a:schemeClr val="bg1"/>
                </a:solidFill>
              </a:rPr>
              <a:t>Luxury and Standard Vehicles Analysis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D7B1-B7A9-7BCC-E452-4DA0FB620F1C}"/>
              </a:ext>
            </a:extLst>
          </p:cNvPr>
          <p:cNvSpPr txBox="1"/>
          <p:nvPr/>
        </p:nvSpPr>
        <p:spPr>
          <a:xfrm>
            <a:off x="476250" y="762821"/>
            <a:ext cx="4001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200" dirty="0"/>
              <a:t>Theft Distribution between Luxury and Standard Vehicles</a:t>
            </a:r>
            <a:endParaRPr lang="en-GB" sz="1600" b="0" i="0" u="none" strike="noStrike" dirty="0">
              <a:solidFill>
                <a:srgbClr val="1E3A8A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6F4CF-62A2-27F0-216C-A0CDA0C13A4F}"/>
              </a:ext>
            </a:extLst>
          </p:cNvPr>
          <p:cNvSpPr txBox="1"/>
          <p:nvPr/>
        </p:nvSpPr>
        <p:spPr>
          <a:xfrm>
            <a:off x="5943600" y="1995841"/>
            <a:ext cx="309211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Standard vehicles account for 95.8%</a:t>
            </a:r>
            <a:r>
              <a:rPr lang="en-GB" sz="1100" dirty="0"/>
              <a:t> of total thefts — indicating that thefts mainly target </a:t>
            </a:r>
            <a:r>
              <a:rPr lang="en-GB" sz="1100" b="1" dirty="0"/>
              <a:t>common, easily resold models</a:t>
            </a:r>
            <a:r>
              <a:rPr lang="en-GB" sz="11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Luxury vehicles represent only 4.2%</a:t>
            </a:r>
            <a:r>
              <a:rPr lang="en-GB" sz="1100" dirty="0"/>
              <a:t> — suggesting </a:t>
            </a:r>
            <a:r>
              <a:rPr lang="en-GB" sz="1100" b="1" dirty="0"/>
              <a:t>lower accessibility</a:t>
            </a:r>
            <a:r>
              <a:rPr lang="en-GB" sz="1100" dirty="0"/>
              <a:t> and </a:t>
            </a:r>
            <a:r>
              <a:rPr lang="en-GB" sz="1100" b="1" dirty="0"/>
              <a:t>stronger built-in security systems</a:t>
            </a:r>
            <a:r>
              <a:rPr lang="en-GB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b="1" dirty="0"/>
              <a:t>BMW and Mercedes-Benz</a:t>
            </a:r>
            <a:r>
              <a:rPr lang="en-GB" sz="1100" dirty="0"/>
              <a:t> dominate luxury theft incidents, together forming the majority of the luxury category.</a:t>
            </a:r>
            <a:endParaRPr lang="en-RW" sz="1100" dirty="0"/>
          </a:p>
        </p:txBody>
      </p:sp>
      <p:pic>
        <p:nvPicPr>
          <p:cNvPr id="5" name="Picture 4" descr="A yellow and white graph&#10;&#10;Description automatically generated">
            <a:extLst>
              <a:ext uri="{FF2B5EF4-FFF2-40B4-BE49-F238E27FC236}">
                <a16:creationId xmlns:a16="http://schemas.microsoft.com/office/drawing/2014/main" id="{5B342700-AAD8-A213-82BD-9B14936A1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5" y="1669143"/>
            <a:ext cx="5428344" cy="239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97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49" y="95250"/>
            <a:ext cx="75356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2800" dirty="0">
                <a:solidFill>
                  <a:schemeClr val="bg1"/>
                </a:solidFill>
              </a:rPr>
              <a:t>Vehicle Theft Trends Over Time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9D7B1-B7A9-7BCC-E452-4DA0FB620F1C}"/>
              </a:ext>
            </a:extLst>
          </p:cNvPr>
          <p:cNvSpPr txBox="1"/>
          <p:nvPr/>
        </p:nvSpPr>
        <p:spPr>
          <a:xfrm>
            <a:off x="476250" y="762821"/>
            <a:ext cx="4001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2000" b="0" i="0" u="none" strike="noStrike" kern="1200" baseline="0">
                <a:solidFill>
                  <a:srgbClr val="1E3A8A"/>
                </a:solidFill>
                <a:latin typeface="Arial"/>
                <a:ea typeface="+mn-ea"/>
                <a:cs typeface="+mn-cs"/>
              </a:defRPr>
            </a:pPr>
            <a:r>
              <a:rPr lang="en-GB" sz="1200" dirty="0"/>
              <a:t>Theft Distribution between Luxury and Standard Vehicles</a:t>
            </a:r>
            <a:endParaRPr lang="en-GB" sz="1600" b="0" i="0" u="none" strike="noStrike" dirty="0">
              <a:solidFill>
                <a:srgbClr val="1E3A8A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6F4CF-62A2-27F0-216C-A0CDA0C13A4F}"/>
              </a:ext>
            </a:extLst>
          </p:cNvPr>
          <p:cNvSpPr txBox="1"/>
          <p:nvPr/>
        </p:nvSpPr>
        <p:spPr>
          <a:xfrm>
            <a:off x="5943600" y="1995841"/>
            <a:ext cx="30921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Overall vehicle thefts show a </a:t>
            </a:r>
            <a:r>
              <a:rPr lang="en-GB" sz="1100" b="1" dirty="0"/>
              <a:t>steady upward trend</a:t>
            </a:r>
            <a:r>
              <a:rPr lang="en-GB" sz="1100" dirty="0"/>
              <a:t> from </a:t>
            </a:r>
            <a:r>
              <a:rPr lang="en-GB" sz="1100" b="1" dirty="0"/>
              <a:t>October 2021 to April 2022</a:t>
            </a:r>
            <a:r>
              <a:rPr lang="en-GB" sz="1100" dirty="0"/>
              <a:t>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 </a:t>
            </a:r>
            <a:r>
              <a:rPr lang="en-GB" sz="1100" b="1" dirty="0"/>
              <a:t>7-day moving average</a:t>
            </a:r>
            <a:r>
              <a:rPr lang="en-GB" sz="1100" dirty="0"/>
              <a:t> indicates </a:t>
            </a:r>
            <a:r>
              <a:rPr lang="en-GB" sz="1100" b="1" dirty="0"/>
              <a:t>consistent growth</a:t>
            </a:r>
            <a:r>
              <a:rPr lang="en-GB" sz="1100" dirty="0"/>
              <a:t> with periodic short-term fluctuations.</a:t>
            </a:r>
          </a:p>
          <a:p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Theft activity remained relatively </a:t>
            </a:r>
            <a:r>
              <a:rPr lang="en-GB" sz="1100" b="1" dirty="0"/>
              <a:t>stable until January 2022</a:t>
            </a:r>
            <a:r>
              <a:rPr lang="en-GB" sz="1100" dirty="0"/>
              <a:t>, after which a </a:t>
            </a:r>
            <a:r>
              <a:rPr lang="en-GB" sz="1100" b="1" dirty="0"/>
              <a:t>sharp rise</a:t>
            </a:r>
            <a:r>
              <a:rPr lang="en-GB" sz="1100" dirty="0"/>
              <a:t> began.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 peak occurred in </a:t>
            </a:r>
            <a:r>
              <a:rPr lang="en-GB" sz="1100" b="1" dirty="0"/>
              <a:t>late March to early April 2022</a:t>
            </a:r>
            <a:r>
              <a:rPr lang="en-GB" sz="1100" dirty="0"/>
              <a:t>, reaching </a:t>
            </a:r>
            <a:r>
              <a:rPr lang="en-GB" sz="1100" b="1" dirty="0"/>
              <a:t>over 80 thefts per day</a:t>
            </a:r>
            <a:r>
              <a:rPr lang="en-GB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The surge suggests </a:t>
            </a:r>
            <a:r>
              <a:rPr lang="en-GB" sz="1100" b="1" dirty="0"/>
              <a:t>seasonal or opportunistic factors</a:t>
            </a:r>
            <a:r>
              <a:rPr lang="en-GB" sz="1100" dirty="0"/>
              <a:t>, possibly linked to holidays or reduced enforcement periods.</a:t>
            </a:r>
            <a:endParaRPr lang="en-RW" sz="1100" dirty="0"/>
          </a:p>
        </p:txBody>
      </p:sp>
      <p:pic>
        <p:nvPicPr>
          <p:cNvPr id="8" name="Picture 7" descr="A graph showing a red line&#10;&#10;Description automatically generated">
            <a:extLst>
              <a:ext uri="{FF2B5EF4-FFF2-40B4-BE49-F238E27FC236}">
                <a16:creationId xmlns:a16="http://schemas.microsoft.com/office/drawing/2014/main" id="{5EE6EC23-5091-8D34-DE6B-D73C2177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1792514"/>
            <a:ext cx="5506761" cy="2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3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44188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Predictive Analytics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31107" y="781199"/>
            <a:ext cx="24774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9F3EA-254C-261F-9A3A-C752A33841B5}"/>
              </a:ext>
            </a:extLst>
          </p:cNvPr>
          <p:cNvSpPr txBox="1"/>
          <p:nvPr/>
        </p:nvSpPr>
        <p:spPr>
          <a:xfrm>
            <a:off x="522514" y="138405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dirty="0">
                <a:solidFill>
                  <a:srgbClr val="030712"/>
                </a:solidFill>
                <a:effectLst/>
                <a:latin typeface="ui-sans-serif"/>
              </a:rPr>
              <a:t>Model Type:        </a:t>
            </a:r>
            <a:r>
              <a:rPr lang="en-GB" b="0" i="0" dirty="0">
                <a:solidFill>
                  <a:srgbClr val="7E22CE"/>
                </a:solidFill>
                <a:effectLst/>
                <a:latin typeface="ui-sans-serif"/>
              </a:rPr>
              <a:t>Random Forest Classifier</a:t>
            </a:r>
            <a:endParaRPr lang="en-GB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b="1" i="0" dirty="0">
                <a:solidFill>
                  <a:srgbClr val="030712"/>
                </a:solidFill>
                <a:effectLst/>
                <a:latin typeface="ui-sans-serif"/>
              </a:rPr>
              <a:t>Accuracy:             </a:t>
            </a:r>
            <a:r>
              <a:rPr lang="en-GB" b="1" i="0" dirty="0">
                <a:solidFill>
                  <a:srgbClr val="9333EA"/>
                </a:solidFill>
                <a:effectLst/>
                <a:latin typeface="ui-sans-serif"/>
              </a:rPr>
              <a:t>98.3%</a:t>
            </a:r>
            <a:endParaRPr lang="en-GB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b="1" i="0" dirty="0">
                <a:solidFill>
                  <a:srgbClr val="030712"/>
                </a:solidFill>
                <a:effectLst/>
                <a:latin typeface="ui-sans-serif"/>
              </a:rPr>
              <a:t>Precision:             </a:t>
            </a:r>
            <a:r>
              <a:rPr lang="en-GB" b="1" i="0" dirty="0">
                <a:solidFill>
                  <a:srgbClr val="9333EA"/>
                </a:solidFill>
                <a:effectLst/>
                <a:latin typeface="ui-sans-serif"/>
              </a:rPr>
              <a:t>96.8%</a:t>
            </a:r>
            <a:endParaRPr lang="en-GB" b="0" i="0" dirty="0">
              <a:solidFill>
                <a:srgbClr val="030712"/>
              </a:solidFill>
              <a:effectLst/>
              <a:latin typeface="ui-sans-serif"/>
            </a:endParaRPr>
          </a:p>
          <a:p>
            <a:pPr algn="l"/>
            <a:r>
              <a:rPr lang="en-GB" b="1" i="0" dirty="0">
                <a:solidFill>
                  <a:srgbClr val="030712"/>
                </a:solidFill>
                <a:effectLst/>
                <a:latin typeface="ui-sans-serif"/>
              </a:rPr>
              <a:t>Recall:                   </a:t>
            </a:r>
            <a:r>
              <a:rPr lang="en-GB" b="1" i="0" dirty="0">
                <a:solidFill>
                  <a:srgbClr val="9333EA"/>
                </a:solidFill>
                <a:effectLst/>
                <a:latin typeface="ui-sans-serif"/>
              </a:rPr>
              <a:t>97.7%</a:t>
            </a:r>
            <a:endParaRPr lang="en-GB" b="0" i="0" dirty="0">
              <a:solidFill>
                <a:srgbClr val="030712"/>
              </a:solidFill>
              <a:effectLst/>
              <a:latin typeface="ui-sans-serif"/>
            </a:endParaRPr>
          </a:p>
        </p:txBody>
      </p:sp>
      <p:pic>
        <p:nvPicPr>
          <p:cNvPr id="14" name="Picture 13" descr="A graph with green lines&#10;&#10;Description automatically generated">
            <a:extLst>
              <a:ext uri="{FF2B5EF4-FFF2-40B4-BE49-F238E27FC236}">
                <a16:creationId xmlns:a16="http://schemas.microsoft.com/office/drawing/2014/main" id="{65308285-F06C-5418-D6DE-9A2313D5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171" y="1384050"/>
            <a:ext cx="4145842" cy="26436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47229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6250" y="952500"/>
            <a:ext cx="4010025" cy="1817340"/>
          </a:xfrm>
          <a:prstGeom prst="roundRect">
            <a:avLst>
              <a:gd name="adj" fmla="val 419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971550"/>
            <a:ext cx="4010025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6" name="Text 4"/>
          <p:cNvSpPr/>
          <p:nvPr/>
        </p:nvSpPr>
        <p:spPr>
          <a:xfrm>
            <a:off x="628650" y="1143000"/>
            <a:ext cx="377932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(30 Days)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28650" y="1455390"/>
            <a:ext cx="3705225" cy="1162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patrols in Gisborne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Monday surveillance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wagon campaign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57725" y="952500"/>
            <a:ext cx="4010025" cy="1817340"/>
          </a:xfrm>
          <a:prstGeom prst="roundRect">
            <a:avLst>
              <a:gd name="adj" fmla="val 419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7725" y="971550"/>
            <a:ext cx="4010025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0" name="Text 8"/>
          <p:cNvSpPr/>
          <p:nvPr/>
        </p:nvSpPr>
        <p:spPr>
          <a:xfrm>
            <a:off x="4810125" y="1143000"/>
            <a:ext cx="377932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(90 Days)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4810125" y="1455390"/>
            <a:ext cx="3705225" cy="1162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theft task force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for trailers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data sharing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6250" y="2941290"/>
            <a:ext cx="4010025" cy="1817340"/>
          </a:xfrm>
          <a:prstGeom prst="roundRect">
            <a:avLst>
              <a:gd name="adj" fmla="val 419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6250" y="2960340"/>
            <a:ext cx="4010025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4" name="Text 12"/>
          <p:cNvSpPr/>
          <p:nvPr/>
        </p:nvSpPr>
        <p:spPr>
          <a:xfrm>
            <a:off x="628650" y="3131790"/>
            <a:ext cx="377932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(180 Days)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28650" y="3444180"/>
            <a:ext cx="3705225" cy="1162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CCTV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policing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programs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57725" y="2941290"/>
            <a:ext cx="4010025" cy="1817340"/>
          </a:xfrm>
          <a:prstGeom prst="roundRect">
            <a:avLst>
              <a:gd name="adj" fmla="val 419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57725" y="2960340"/>
            <a:ext cx="4010025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RW"/>
          </a:p>
        </p:txBody>
      </p:sp>
      <p:sp>
        <p:nvSpPr>
          <p:cNvPr id="18" name="Text 16"/>
          <p:cNvSpPr/>
          <p:nvPr/>
        </p:nvSpPr>
        <p:spPr>
          <a:xfrm>
            <a:off x="4810125" y="3131790"/>
            <a:ext cx="3779329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10"/>
              </a:lnSpc>
              <a:spcAft>
                <a:spcPts val="750"/>
              </a:spcAft>
              <a:buNone/>
            </a:pPr>
            <a:r>
              <a:rPr lang="en-US" sz="1425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(12 Months)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4810125" y="3444180"/>
            <a:ext cx="3705225" cy="11620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system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monitoring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Legislative reforms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95250"/>
            <a:ext cx="38872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Projected Impact &amp; ROI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36720" y="627798"/>
            <a:ext cx="40319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(12 Months)</a:t>
            </a:r>
            <a:endParaRPr lang="en-US" sz="1800" dirty="0"/>
          </a:p>
        </p:txBody>
      </p:sp>
      <p:pic>
        <p:nvPicPr>
          <p:cNvPr id="5" name="Image 0" descr="/tmp/rasterized-gradient-57c7aa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89868"/>
            <a:ext cx="3952875" cy="11238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50" y="1242268"/>
            <a:ext cx="3721037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25-35%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28650" y="1817489"/>
            <a:ext cx="372103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Thefts</a:t>
            </a:r>
            <a:endParaRPr lang="en-US" sz="1200" dirty="0"/>
          </a:p>
        </p:txBody>
      </p:sp>
      <p:pic>
        <p:nvPicPr>
          <p:cNvPr id="8" name="Image 1" descr="/tmp/rasterized-gradient-1d31c2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66070"/>
            <a:ext cx="3952875" cy="11238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2518470"/>
            <a:ext cx="3721037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628650" y="3093690"/>
            <a:ext cx="372103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Savings</a:t>
            </a:r>
            <a:endParaRPr lang="en-US" sz="1200" dirty="0"/>
          </a:p>
        </p:txBody>
      </p:sp>
      <p:pic>
        <p:nvPicPr>
          <p:cNvPr id="11" name="Image 2" descr="/tmp/rasterized-gradient-34c42d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642271"/>
            <a:ext cx="3952875" cy="11238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8650" y="3794671"/>
            <a:ext cx="3721037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550" dirty="0"/>
          </a:p>
        </p:txBody>
      </p:sp>
      <p:sp>
        <p:nvSpPr>
          <p:cNvPr id="13" name="Text 8"/>
          <p:cNvSpPr/>
          <p:nvPr/>
        </p:nvSpPr>
        <p:spPr>
          <a:xfrm>
            <a:off x="628650" y="4369891"/>
            <a:ext cx="372103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 Rate Gain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14875" y="788789"/>
            <a:ext cx="40319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714875" y="1405979"/>
            <a:ext cx="3952875" cy="196215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theft reduction trends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crime comparisons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confidence surveys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rate improvements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reductions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714875" y="3711029"/>
            <a:ext cx="3952875" cy="548580"/>
          </a:xfrm>
          <a:prstGeom prst="roundRect">
            <a:avLst>
              <a:gd name="adj" fmla="val 1389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867275" y="3863429"/>
            <a:ext cx="372103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Phase 1 and quarterly reviews.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906</Words>
  <Application>Microsoft Office PowerPoint</Application>
  <PresentationFormat>On-screen Show (16:9)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Segoe UI Semibold</vt:lpstr>
      <vt:lpstr>Tahoma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Theft Analysis - New Zealand Police</dc:title>
  <dc:subject>Strategic Analysis and Recommendations</dc:subject>
  <dc:creator>Cenfri Data Science Fellow</dc:creator>
  <cp:lastModifiedBy>NIYIBIGIRA Geredi</cp:lastModifiedBy>
  <cp:revision>3</cp:revision>
  <dcterms:created xsi:type="dcterms:W3CDTF">2025-11-08T08:24:43Z</dcterms:created>
  <dcterms:modified xsi:type="dcterms:W3CDTF">2025-11-08T21:14:25Z</dcterms:modified>
</cp:coreProperties>
</file>